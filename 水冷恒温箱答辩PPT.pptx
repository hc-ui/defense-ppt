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合肥工业大学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仪器科学与光电工程学院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水冷恒温箱的设计与实现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本科毕业设计答辩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专　业：测控技术与仪器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答辩人：何　成　　　　指导教师：李维诗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2025年6月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498DB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研究背景与课题意义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&amp; Significance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4572000" cy="100584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143000"/>
            <a:ext cx="64008" cy="100584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0" name="Text 8"/>
          <p:cNvSpPr/>
          <p:nvPr/>
        </p:nvSpPr>
        <p:spPr>
          <a:xfrm>
            <a:off x="822960" y="121615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精密测量需求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5270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光学检测、微纳加工等场景要求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温度波动 &lt; 0.1℃，振动与气流极低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4572000" cy="100584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31720"/>
            <a:ext cx="64008" cy="100584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822960" y="240487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传统风冷方案不足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7157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风扇引入气流扰动、机械振动和噪声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难以满足高精度恒温需求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4572000" cy="100584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0440"/>
            <a:ext cx="64008" cy="100584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822960" y="359359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本课题方案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90448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提出无风扰外循环水冷恒温方案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目标：高稳定、低扰动、良好均匀性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143000"/>
            <a:ext cx="3291840" cy="365760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325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187452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如何在不引入强制气流的条件下，实现箱内温度的高精度、高稳定性控制？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解决思路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TEC制冷/制热 + 外循环水冷传热 + 高导热内胆均温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国内外研究现状与存在问题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188720"/>
          <a:ext cx="804672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方案类型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优点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不足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风冷恒温箱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结构简单、成本低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气流扰动大、振动噪声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液冷恒温箱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换热效率高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多为浸没式，不适用空气空间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TEC控温系统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响应快、无运动部件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制冷量有限、需散热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E8F0FE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3291840"/>
            <a:ext cx="64008" cy="137160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1" name="Text 8"/>
          <p:cNvSpPr/>
          <p:nvPr/>
        </p:nvSpPr>
        <p:spPr>
          <a:xfrm>
            <a:off x="82296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研究空白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7498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面向空气空间的无风扰水冷恒温箱研究较少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现有方案多依赖风扇强制对流，难以兼顾低扰动与高均匀性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缺乏针对大惯性水冷系统的控制策略研究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研究目标与技术指标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Objectives &amp; Specifications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8046720" cy="5943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9" name="Text 7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设计一台面向精密测量场景的外循环水冷无风扰恒温箱，实现高稳定、低扰动的恒温环境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371600" y="1965960"/>
          <a:ext cx="6400800" cy="2743202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技术指标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设计目标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目标温度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20℃ 附近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调节时间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 120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最大超调量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 0.3℃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15h 温度波动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 0.1℃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空间均匀度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 0.1℃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扰动恢复时间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 30 min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系统总体方案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560320" cy="210312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60320"/>
            <a:ext cx="256032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0" name="Text 8"/>
          <p:cNvSpPr/>
          <p:nvPr/>
        </p:nvSpPr>
        <p:spPr>
          <a:xfrm>
            <a:off x="68580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机械结构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三层复合箱体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保温层+水冷层+内胆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无风扇设计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560320" cy="210312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560320"/>
            <a:ext cx="256032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352044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硬件电路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10896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STM32主控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PT100多点测温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TEC驱动+水泵驱动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560320"/>
            <a:ext cx="2560320" cy="210312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560320"/>
            <a:ext cx="256032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635508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软件控制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积分分离PID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中值+滑动平均滤波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串口通信+OLED显示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143000"/>
            <a:ext cx="8046720" cy="11887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1" name="Shape 19"/>
          <p:cNvSpPr/>
          <p:nvPr/>
        </p:nvSpPr>
        <p:spPr>
          <a:xfrm>
            <a:off x="822960" y="1325880"/>
            <a:ext cx="1554480" cy="77724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132588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制冷/制热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1325880"/>
            <a:ext cx="1554480" cy="77724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132588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外循环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水路系统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1554480" cy="77724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32588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箱壁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换热层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1325880"/>
            <a:ext cx="1554480" cy="77724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0" y="132588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高导热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1417320"/>
            <a:ext cx="365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43400" y="1417320"/>
            <a:ext cx="365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63640" y="1417320"/>
            <a:ext cx="365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机械结构与传热设计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Mechanical Design &amp; Heat Transfer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箱体剖面结构示意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3657600" cy="292608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459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保温层（聚氨酯发泡）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2057400"/>
            <a:ext cx="2834640" cy="210312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1031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水冷换热层（蛇形紫铜管）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2514600"/>
            <a:ext cx="1920240" cy="1280160"/>
          </a:xfrm>
          <a:prstGeom prst="rect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60604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6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高导热铝内胆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6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300×250×200mm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6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有效容积 ~15L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设计要点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600200"/>
            <a:ext cx="3749040" cy="64008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17" name="Shape 15"/>
          <p:cNvSpPr/>
          <p:nvPr/>
        </p:nvSpPr>
        <p:spPr>
          <a:xfrm>
            <a:off x="5029200" y="1600200"/>
            <a:ext cx="54864" cy="6400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5257800" y="16459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三层复合结构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192024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保温层隔热 → 水冷层换热 → 内胆均温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350008"/>
            <a:ext cx="3749040" cy="64008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1" name="Shape 19"/>
          <p:cNvSpPr/>
          <p:nvPr/>
        </p:nvSpPr>
        <p:spPr>
          <a:xfrm>
            <a:off x="5029200" y="2350008"/>
            <a:ext cx="54864" cy="6400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2" name="Text 20"/>
          <p:cNvSpPr/>
          <p:nvPr/>
        </p:nvSpPr>
        <p:spPr>
          <a:xfrm>
            <a:off x="5257800" y="239572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无风扇设计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67004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箱内无强制对流，消除气流扰动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3099816"/>
            <a:ext cx="3749040" cy="64008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25" name="Shape 23"/>
          <p:cNvSpPr/>
          <p:nvPr/>
        </p:nvSpPr>
        <p:spPr>
          <a:xfrm>
            <a:off x="5029200" y="3099816"/>
            <a:ext cx="54864" cy="6400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6" name="Text 24"/>
          <p:cNvSpPr/>
          <p:nvPr/>
        </p:nvSpPr>
        <p:spPr>
          <a:xfrm>
            <a:off x="5257800" y="314553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热量传递路径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41985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 → 循环水 → 蛇形铜管 → 箱壁 → 内胆辐射/自然对流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3849624"/>
            <a:ext cx="3749040" cy="64008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9" name="Shape 27"/>
          <p:cNvSpPr/>
          <p:nvPr/>
        </p:nvSpPr>
        <p:spPr>
          <a:xfrm>
            <a:off x="5029200" y="3849624"/>
            <a:ext cx="54864" cy="6400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0" name="Text 28"/>
          <p:cNvSpPr/>
          <p:nvPr/>
        </p:nvSpPr>
        <p:spPr>
          <a:xfrm>
            <a:off x="5257800" y="389534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密封与保温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聚氨酯发泡填充，硅胶密封条，减少热泄漏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水路布局与测温点设计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Circuit &amp; Sensor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蛇形水路布局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4114800" cy="237744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0" name="Text 8"/>
          <p:cNvSpPr/>
          <p:nvPr/>
        </p:nvSpPr>
        <p:spPr>
          <a:xfrm>
            <a:off x="731520" y="1645920"/>
            <a:ext cx="374904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┌──────────────────┐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═══╗  ╔═══╗  ╔══│ ← 底板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═══╝  ╚═══╝  ╚══│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├──────────────────┤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║    侧壁    ║  │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║  蛇形铜管  ║  │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║            ║  │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4C7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└──────────────────┘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单路串联蛇形紫铜管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覆盖底板、侧壁、后壁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紫铜管导热系数高，换热均匀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五点 PT100 测温布置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600200"/>
            <a:ext cx="3200400" cy="2286000"/>
          </a:xfrm>
          <a:prstGeom prst="rect">
            <a:avLst/>
          </a:prstGeom>
          <a:solidFill>
            <a:srgbClr val="FFF9E6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6459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箱内俯视图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196596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6" name="Text 14"/>
          <p:cNvSpPr/>
          <p:nvPr/>
        </p:nvSpPr>
        <p:spPr>
          <a:xfrm>
            <a:off x="5669280" y="1965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196596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7863840" y="1965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260604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0" name="Text 18"/>
          <p:cNvSpPr/>
          <p:nvPr/>
        </p:nvSpPr>
        <p:spPr>
          <a:xfrm>
            <a:off x="6766560" y="26060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324612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2" name="Text 20"/>
          <p:cNvSpPr/>
          <p:nvPr/>
        </p:nvSpPr>
        <p:spPr>
          <a:xfrm>
            <a:off x="5669280" y="32461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324612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4" name="Text 22"/>
          <p:cNvSpPr/>
          <p:nvPr/>
        </p:nvSpPr>
        <p:spPr>
          <a:xfrm>
            <a:off x="7863840" y="32461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406908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五点分布于箱内不同空间位置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监测空间温度均匀性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T3 为中心点，作为控制反馈信号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硬件系统设计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2194560" cy="109728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9456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STM32F103C8T6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主控芯片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286000" cy="822960"/>
          </a:xfrm>
          <a:prstGeom prst="rect">
            <a:avLst/>
          </a:prstGeom>
          <a:solidFill>
            <a:srgbClr val="E8F5E9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2" name="Text 10"/>
          <p:cNvSpPr/>
          <p:nvPr/>
        </p:nvSpPr>
        <p:spPr>
          <a:xfrm>
            <a:off x="594360" y="11887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PT100 + ADS1220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温度采集模块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286000" cy="822960"/>
          </a:xfrm>
          <a:prstGeom prst="rect">
            <a:avLst/>
          </a:prstGeom>
          <a:solidFill>
            <a:srgbClr val="FFF3E0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822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5" name="Text 13"/>
          <p:cNvSpPr/>
          <p:nvPr/>
        </p:nvSpPr>
        <p:spPr>
          <a:xfrm>
            <a:off x="594360" y="23774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 双向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H桥驱动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286000" cy="822960"/>
          </a:xfrm>
          <a:prstGeom prst="rect">
            <a:avLst/>
          </a:prstGeom>
          <a:solidFill>
            <a:srgbClr val="E3F2FD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54864" cy="82296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594360" y="356616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水泵驱动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MOS管控制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188720"/>
            <a:ext cx="2286000" cy="822960"/>
          </a:xfrm>
          <a:prstGeom prst="rect">
            <a:avLst/>
          </a:prstGeom>
          <a:solidFill>
            <a:srgbClr val="F3E5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188720"/>
            <a:ext cx="54864" cy="82296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1" name="Text 19"/>
          <p:cNvSpPr/>
          <p:nvPr/>
        </p:nvSpPr>
        <p:spPr>
          <a:xfrm>
            <a:off x="6537960" y="11887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OLED 显示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实时温度/状态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2286000" cy="822960"/>
          </a:xfrm>
          <a:prstGeom prst="rect">
            <a:avLst/>
          </a:prstGeom>
          <a:solidFill>
            <a:srgbClr val="E8EAF6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377440"/>
            <a:ext cx="54864" cy="822960"/>
          </a:xfrm>
          <a:prstGeom prst="rect">
            <a:avLst/>
          </a:prstGeom>
          <a:solidFill>
            <a:srgbClr val="3F51B5"/>
          </a:solidFill>
        </p:spPr>
      </p:sp>
      <p:sp>
        <p:nvSpPr>
          <p:cNvPr id="24" name="Text 22"/>
          <p:cNvSpPr/>
          <p:nvPr/>
        </p:nvSpPr>
        <p:spPr>
          <a:xfrm>
            <a:off x="6537960" y="23774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串口通信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上位机数据上传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566160"/>
            <a:ext cx="2286000" cy="822960"/>
          </a:xfrm>
          <a:prstGeom prst="rect">
            <a:avLst/>
          </a:prstGeom>
          <a:solidFill>
            <a:srgbClr val="FFEBEE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3566160"/>
            <a:ext cx="54864" cy="82296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27" name="Text 25"/>
          <p:cNvSpPr/>
          <p:nvPr/>
        </p:nvSpPr>
        <p:spPr>
          <a:xfrm>
            <a:off x="6537960" y="356616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电源管理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12V/5V/3.3V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1600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834640" y="27889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834640" y="39776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60720" y="1600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760720" y="27889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60720" y="39776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系统具备多点温度采集、闭环控制、数据显示与上传功能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软件流程与控制算法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&amp; Control Algorithm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软件主流程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600200"/>
            <a:ext cx="3291840" cy="34747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0" name="Text 8"/>
          <p:cNvSpPr/>
          <p:nvPr/>
        </p:nvSpPr>
        <p:spPr>
          <a:xfrm>
            <a:off x="914400" y="160020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系统初始化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2039112"/>
            <a:ext cx="3291840" cy="34747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3" name="Text 11"/>
          <p:cNvSpPr/>
          <p:nvPr/>
        </p:nvSpPr>
        <p:spPr>
          <a:xfrm>
            <a:off x="914400" y="203911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硬件自检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3591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2478024"/>
            <a:ext cx="3291840" cy="34747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6" name="Text 14"/>
          <p:cNvSpPr/>
          <p:nvPr/>
        </p:nvSpPr>
        <p:spPr>
          <a:xfrm>
            <a:off x="914400" y="247802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多通道温度采集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79806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2916936"/>
            <a:ext cx="3291840" cy="34747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9" name="Text 17"/>
          <p:cNvSpPr/>
          <p:nvPr/>
        </p:nvSpPr>
        <p:spPr>
          <a:xfrm>
            <a:off x="914400" y="291693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中值滤波 + 滑动平均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23697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14400" y="3355848"/>
            <a:ext cx="3291840" cy="34747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2" name="Text 20"/>
          <p:cNvSpPr/>
          <p:nvPr/>
        </p:nvSpPr>
        <p:spPr>
          <a:xfrm>
            <a:off x="914400" y="335584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积分分离PID运算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6758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14400" y="3794760"/>
            <a:ext cx="3291840" cy="34747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5" name="Text 23"/>
          <p:cNvSpPr/>
          <p:nvPr/>
        </p:nvSpPr>
        <p:spPr>
          <a:xfrm>
            <a:off x="914400" y="379476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TEC/水泵驱动输出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11480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0" y="4233672"/>
            <a:ext cx="3291840" cy="34747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8" name="Text 26"/>
          <p:cNvSpPr/>
          <p:nvPr/>
        </p:nvSpPr>
        <p:spPr>
          <a:xfrm>
            <a:off x="914400" y="42336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OLED显示 + 串口上传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积分分离PID控制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1554480"/>
            <a:ext cx="3749040" cy="16459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31" name="Shape 29"/>
          <p:cNvSpPr/>
          <p:nvPr/>
        </p:nvSpPr>
        <p:spPr>
          <a:xfrm>
            <a:off x="5029200" y="1554480"/>
            <a:ext cx="54864" cy="16459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2" name="Text 30"/>
          <p:cNvSpPr/>
          <p:nvPr/>
        </p:nvSpPr>
        <p:spPr>
          <a:xfrm>
            <a:off x="5257800" y="164592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核心思想：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|e(t)| &gt; ε 时，去掉积分项，避免大超调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|e(t)| ≤ ε 时，引入积分项，消除稳态误差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适用特点：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水冷系统大惯性、纯滞后特性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3832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PID参数整定结果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5029200" y="3703320"/>
          <a:ext cx="3749040" cy="105156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</a:tblGrid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参数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数值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0.035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积分分离阈值 ε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0.8℃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系统建模与仿真分析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Modeling &amp; Simulation (MATLAB/Simulink)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一阶惯性纯滞后模型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4114800" cy="109728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10" name="Text 8"/>
          <p:cNvSpPr/>
          <p:nvPr/>
        </p:nvSpPr>
        <p:spPr>
          <a:xfrm>
            <a:off x="731520" y="1645920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G(s) = K · e^(-τs) / (Ts + 1)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水冷恒温箱具有大惯性、纯滞后特性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传统PID易产生较大超调和振荡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常规PID vs 积分分离PID 仿真对比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3200400"/>
          <a:ext cx="804672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性能指标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常规PID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积分分离PID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改善效果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最大超调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较大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~0.10℃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显著减小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调节时间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较长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~86.7 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明显缩短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15h波动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~0.077℃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满足要求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扰动恢复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较慢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~18.3 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恢复更快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029200" y="1143000"/>
            <a:ext cx="3749040" cy="150876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12080" y="1234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仿真结论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12080" y="160020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积分分离PID有效抑制超调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缩短调节时间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提高稳态精度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验证了控制策略的可行性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样机制作与实验平台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&amp; Test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样机组成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4114800" cy="50292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10" name="Shape 8"/>
          <p:cNvSpPr/>
          <p:nvPr/>
        </p:nvSpPr>
        <p:spPr>
          <a:xfrm>
            <a:off x="685800" y="164592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1" name="Text 9"/>
          <p:cNvSpPr/>
          <p:nvPr/>
        </p:nvSpPr>
        <p:spPr>
          <a:xfrm>
            <a:off x="685800" y="16459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57276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三层复合箱体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8105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保温层 + 水冷层 + 铝内胆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4114800" cy="5029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5" name="Shape 13"/>
          <p:cNvSpPr/>
          <p:nvPr/>
        </p:nvSpPr>
        <p:spPr>
          <a:xfrm>
            <a:off x="685800" y="224028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6" name="Text 14"/>
          <p:cNvSpPr/>
          <p:nvPr/>
        </p:nvSpPr>
        <p:spPr>
          <a:xfrm>
            <a:off x="685800" y="22402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16712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水路系统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40487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蛇形紫铜管 + 水泵 + 水箱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4114800" cy="50292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20" name="Shape 18"/>
          <p:cNvSpPr/>
          <p:nvPr/>
        </p:nvSpPr>
        <p:spPr>
          <a:xfrm>
            <a:off x="685800" y="283464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1" name="Text 19"/>
          <p:cNvSpPr/>
          <p:nvPr/>
        </p:nvSpPr>
        <p:spPr>
          <a:xfrm>
            <a:off x="685800" y="2834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276148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TEC制冷模组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299923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TEC片 + 散热器 + 散热风扇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4114800" cy="5029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5" name="Shape 23"/>
          <p:cNvSpPr/>
          <p:nvPr/>
        </p:nvSpPr>
        <p:spPr>
          <a:xfrm>
            <a:off x="685800" y="342900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6" name="Text 24"/>
          <p:cNvSpPr/>
          <p:nvPr/>
        </p:nvSpPr>
        <p:spPr>
          <a:xfrm>
            <a:off x="685800" y="3429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35584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控制电路板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5935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STM32 + ADS1220 + 驱动电路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4114800" cy="50292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30" name="Shape 28"/>
          <p:cNvSpPr/>
          <p:nvPr/>
        </p:nvSpPr>
        <p:spPr>
          <a:xfrm>
            <a:off x="685800" y="4023360"/>
            <a:ext cx="320040" cy="3200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31" name="Text 29"/>
          <p:cNvSpPr/>
          <p:nvPr/>
        </p:nvSpPr>
        <p:spPr>
          <a:xfrm>
            <a:off x="685800" y="40233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39502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上位机测试平台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18795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串口数据采集 + 实时曲线显示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实验项目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1600200"/>
            <a:ext cx="3749040" cy="438912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1600200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 温度采集精度验证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2148840"/>
            <a:ext cx="3749040" cy="438912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12080" y="2148840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 阶跃响应实验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0" y="2697480"/>
            <a:ext cx="3749040" cy="438912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212080" y="2697480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 长时间稳定性实验（15h）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3246120"/>
            <a:ext cx="3749040" cy="438912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12080" y="3246120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  空间均匀性实验（五点）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0" y="3794760"/>
            <a:ext cx="3749040" cy="438912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12080" y="3794760"/>
            <a:ext cx="3383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  扰动恢复实验（开门15s）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完成样机装配、水路搭建、PCB焊接、嵌入式程序开发与调试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实验结果（一）测温精度与阶跃响应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Accuracy &amp; Step Response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测温精度验证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4114800" cy="1188720"/>
          </a:xfrm>
          <a:prstGeom prst="rect">
            <a:avLst/>
          </a:prstGeom>
          <a:solidFill>
            <a:srgbClr val="E8F0FE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002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±0.02℃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各通道在20℃附近的测量误差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采用PT100四线制 + ADS1220高精度ADC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五通道一致性良好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满足高精度温控反馈需求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阶跃响应实验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3749040" cy="228600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691640"/>
            <a:ext cx="1645920" cy="9144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6" name="Text 14"/>
          <p:cNvSpPr/>
          <p:nvPr/>
        </p:nvSpPr>
        <p:spPr>
          <a:xfrm>
            <a:off x="5212080" y="169164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95 min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调节时间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91640"/>
            <a:ext cx="1645920" cy="9144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9" name="Text 17"/>
          <p:cNvSpPr/>
          <p:nvPr/>
        </p:nvSpPr>
        <p:spPr>
          <a:xfrm>
            <a:off x="6949440" y="169164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0.15℃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最大超调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278892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实验条件：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室温 ~24.8℃ → 目标 20℃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系统从室温降至20℃目标温度，约95min达到稳态，最大超调约0.15℃，响应过程平稳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23" name="Shape 21"/>
          <p:cNvSpPr/>
          <p:nvPr/>
        </p:nvSpPr>
        <p:spPr>
          <a:xfrm>
            <a:off x="548640" y="3931920"/>
            <a:ext cx="54864" cy="50292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4" name="Text 22"/>
          <p:cNvSpPr/>
          <p:nvPr/>
        </p:nvSpPr>
        <p:spPr>
          <a:xfrm>
            <a:off x="777240" y="393192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结论：测温精度和阶跃响应均优于设计目标（调节时间 ≤120min，超调 ≤0.3℃）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实验结果（二）稳定性与空间均匀性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Stability &amp; Uniformity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3931920" cy="182880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15h 长时间稳定性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0.094℃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峰谷波动（目标 &lt; 0.1℃）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606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达标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3931920" cy="1828800"/>
          </a:xfrm>
          <a:prstGeom prst="rect">
            <a:avLst/>
          </a:prstGeom>
          <a:solidFill>
            <a:srgbClr val="1A2744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五点空间均匀性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0.076℃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最大温差（目标 &lt; 0.1℃）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2606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达标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3931920" cy="13716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9" name="Shape 17"/>
          <p:cNvSpPr/>
          <p:nvPr/>
        </p:nvSpPr>
        <p:spPr>
          <a:xfrm>
            <a:off x="548640" y="3200400"/>
            <a:ext cx="54864" cy="137160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0" name="Text 18"/>
          <p:cNvSpPr/>
          <p:nvPr/>
        </p:nvSpPr>
        <p:spPr>
          <a:xfrm>
            <a:off x="777240" y="32461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稳定性分析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连续运行15小时无明显漂移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温度波动控制在0.094℃以内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积分分离PID有效消除稳态误差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3931920" cy="137160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23" name="Shape 21"/>
          <p:cNvSpPr/>
          <p:nvPr/>
        </p:nvSpPr>
        <p:spPr>
          <a:xfrm>
            <a:off x="4663440" y="3200400"/>
            <a:ext cx="54864" cy="137160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4" name="Text 22"/>
          <p:cNvSpPr/>
          <p:nvPr/>
        </p:nvSpPr>
        <p:spPr>
          <a:xfrm>
            <a:off x="4892040" y="32461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均匀性分析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661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五点温度分布一致性良好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高导热内胆有效扩散壁面热量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无风扇条件下均匀性优于0.1℃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实验结果（三）扰动恢复与指标对比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Disturbance Recovery &amp;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扰动恢复实验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4114800" cy="1463040"/>
          </a:xfrm>
          <a:prstGeom prst="rect">
            <a:avLst/>
          </a:prstGeom>
          <a:solidFill>
            <a:srgbClr val="F0F2F5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459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498D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22 min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恢复时间（目标 ≤ 30min）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实验条件：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开门15s引入环境扰动后关门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系统自动恢复至稳态，约22min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设计目标 vs 实验结果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846320" y="1554480"/>
          <a:ext cx="402336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45720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指标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目标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调节时间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≤120min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最大超调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≤0.3℃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0.15℃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15h波动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&lt;0.1℃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0.094℃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空间均匀度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&lt;0.1℃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0.076℃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扰动恢复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≤30min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498D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22min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Shape 12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6" name="Text 1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所有设计指标均已达到，系统可在20℃附近稳定运行，满足精密测量恒温需求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总结、创新点与展望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Text 5"/>
          <p:cNvSpPr/>
          <p:nvPr/>
        </p:nvSpPr>
        <p:spPr>
          <a:xfrm>
            <a:off x="7772400" y="49103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研究成果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4114800" cy="109728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0" name="Shape 8"/>
          <p:cNvSpPr/>
          <p:nvPr/>
        </p:nvSpPr>
        <p:spPr>
          <a:xfrm>
            <a:off x="548640" y="1508760"/>
            <a:ext cx="54864" cy="10972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1" name="Text 9"/>
          <p:cNvSpPr/>
          <p:nvPr/>
        </p:nvSpPr>
        <p:spPr>
          <a:xfrm>
            <a:off x="777240" y="1572768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完成了水冷恒温箱的方案设计与样机制作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实现了无风扰条件下的高精度温度控制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各项指标均达到设计目标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验证了外循环水冷恒温方案的可行性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创新与特色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228600" cy="22860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640080" y="32004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提出适用于精密测量的外循环水冷无风扰恒温方案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84448"/>
            <a:ext cx="228600" cy="22860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7" name="Text 15"/>
          <p:cNvSpPr/>
          <p:nvPr/>
        </p:nvSpPr>
        <p:spPr>
          <a:xfrm>
            <a:off x="640080" y="35844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53872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采用三层复合箱体结构提升壁面传热均匀性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228600" cy="22860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0" name="Text 18"/>
          <p:cNvSpPr/>
          <p:nvPr/>
        </p:nvSpPr>
        <p:spPr>
          <a:xfrm>
            <a:off x="640080" y="396849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92277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针对大惯性长滞后对象采用积分分离PID策略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228600" cy="22860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3" name="Text 21"/>
          <p:cNvSpPr/>
          <p:nvPr/>
        </p:nvSpPr>
        <p:spPr>
          <a:xfrm>
            <a:off x="640080" y="43525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430682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通过样机实验验证了方案可行性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不足与展望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1554480"/>
            <a:ext cx="3749040" cy="658368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27" name="Shape 25"/>
          <p:cNvSpPr/>
          <p:nvPr/>
        </p:nvSpPr>
        <p:spPr>
          <a:xfrm>
            <a:off x="5029200" y="1554480"/>
            <a:ext cx="54864" cy="6583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8" name="Text 26"/>
          <p:cNvSpPr/>
          <p:nvPr/>
        </p:nvSpPr>
        <p:spPr>
          <a:xfrm>
            <a:off x="5257800" y="160934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装配精度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1883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盘管贴合与装配工艺仍可优化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2331720"/>
            <a:ext cx="3749040" cy="658368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31" name="Shape 29"/>
          <p:cNvSpPr/>
          <p:nvPr/>
        </p:nvSpPr>
        <p:spPr>
          <a:xfrm>
            <a:off x="5029200" y="2331720"/>
            <a:ext cx="54864" cy="6583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2" name="Text 30"/>
          <p:cNvSpPr/>
          <p:nvPr/>
        </p:nvSpPr>
        <p:spPr>
          <a:xfrm>
            <a:off x="5257800" y="23865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模型精度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66090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工程简化模型可进一步精细化辨识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3108960"/>
            <a:ext cx="3749040" cy="658368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35" name="Shape 33"/>
          <p:cNvSpPr/>
          <p:nvPr/>
        </p:nvSpPr>
        <p:spPr>
          <a:xfrm>
            <a:off x="5029200" y="3108960"/>
            <a:ext cx="54864" cy="6583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6" name="Text 34"/>
          <p:cNvSpPr/>
          <p:nvPr/>
        </p:nvSpPr>
        <p:spPr>
          <a:xfrm>
            <a:off x="5257800" y="316382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控制算法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43814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可研究Smith预估、自适应控制、模型预测控制等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3886200"/>
            <a:ext cx="3749040" cy="658368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39" name="Shape 37"/>
          <p:cNvSpPr/>
          <p:nvPr/>
        </p:nvSpPr>
        <p:spPr>
          <a:xfrm>
            <a:off x="5029200" y="3886200"/>
            <a:ext cx="54864" cy="6583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40" name="Text 38"/>
          <p:cNvSpPr/>
          <p:nvPr/>
        </p:nvSpPr>
        <p:spPr>
          <a:xfrm>
            <a:off x="5257800" y="39410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长期验证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42153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更高精度工况下的长期可靠性有待验证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Shape 1"/>
          <p:cNvSpPr/>
          <p:nvPr/>
        </p:nvSpPr>
        <p:spPr>
          <a:xfrm>
            <a:off x="3200400" y="1463040"/>
            <a:ext cx="27432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感谢各位老师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恳请批评指正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答辩人：何成　　　指导教师：李维诗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7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合肥工业大学 · 仪器科学与光电工程学院 · 测控技术与仪器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498DB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3365</Words>
  <Application>WPS 演示</Application>
  <PresentationFormat>On-screen Show (16:9)</PresentationFormat>
  <Paragraphs>639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Calibri</vt:lpstr>
      <vt:lpstr>Calibri</vt:lpstr>
      <vt:lpstr>Arial Black</vt:lpstr>
      <vt:lpstr>Arial Black</vt:lpstr>
      <vt:lpstr>Arial Black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水冷恒温箱的设计与实现</dc:title>
  <dc:creator>何成</dc:creator>
  <dc:subject>PptxGenJS Presentation</dc:subject>
  <cp:lastModifiedBy>风陵川</cp:lastModifiedBy>
  <cp:revision>2</cp:revision>
  <dcterms:created xsi:type="dcterms:W3CDTF">2026-05-04T10:20:00Z</dcterms:created>
  <dcterms:modified xsi:type="dcterms:W3CDTF">2026-05-04T10:42:40Z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57288CCBAFE14362B2CF20D9FE67C695_12</vt:lpwstr>
  </property>
  <property fmtid="{D5CDD505-2E9C-101B-9397-08002B2CF9AE}" pid="3" name="KSOProductBuildVer">
    <vt:lpwstr>2052-12.1.0.25865</vt:lpwstr>
  </property>
</Properties>
</file>